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6.xml" ContentType="application/vnd.openxmlformats-officedocument.presentationml.comments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commentAuthors.xml><?xml version="1.0" encoding="utf-8"?>
<p:cmAuthorLst xmlns:p="http://schemas.openxmlformats.org/presentationml/2006/main">
  <p:cmAuthor id="0" name="Rina Patel" initials="RP" lastIdx="2" clrIdx="0"/>
  <p:cmAuthor id="1" name="Marcus Lee" initials="ML" lastIdx="2" clrIdx="1"/>
  <p:cmAuthor id="2" name="Sara Kim" initials="SK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presProps" Target="presProp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tableStyles" Target="tableStyles.xml" /><ns0:Relationship Id="rId5" Type="http://schemas.openxmlformats.org/officeDocument/2006/relationships/slide" Target="slides/slide4.xml" /><ns0:Relationship Id="rId10" Type="http://schemas.openxmlformats.org/officeDocument/2006/relationships/theme" Target="theme/theme1.xml" /><ns0:Relationship Id="rId4" Type="http://schemas.openxmlformats.org/officeDocument/2006/relationships/slide" Target="slides/slide3.xml" /><ns0:Relationship Id="rId9" Type="http://schemas.openxmlformats.org/officeDocument/2006/relationships/viewProps" Target="viewProps.xml" /><ns0:Relationship Id="rId12" Type="http://schemas.openxmlformats.org/officeDocument/2006/relationships/notesMaster" Target="notesMasters/notesMaster1.xml" /><ns0:Relationship Id="rId13" Type="http://schemas.openxmlformats.org/officeDocument/2006/relationships/commentAuthors" Target="commentAuthors.xml" /><ns0:Relationship Id="rId14" Type="http://schemas.openxmlformats.org/officeDocument/2006/relationships/slide" Target="slides/slide7.xml" /></ns0:Relationships>
</file>

<file path=ppt/comments/comment2.xml><?xml version="1.0" encoding="utf-8"?>
<p:cmLst xmlns:p="http://schemas.openxmlformats.org/presentationml/2006/main">
  <p:cm authorId="0" dt="2026-03-22T09:00:00Z" idx="1">
    <p:pos x="10732385" y="4134090"/>
    <p:text>Check whether the shipping promise should localize by market before sign-off.</p:text>
  </p:cm>
</p:cmLst>
</file>

<file path=ppt/comments/comment3.xml><?xml version="1.0" encoding="utf-8"?>
<p:cmLst xmlns:p="http://schemas.openxmlformats.org/presentationml/2006/main">
  <p:cm authorId="1" dt="2026-03-22T09:00:00Z" idx="1">
    <p:pos x="8390993" y="4889063"/>
    <p:text>Verify the savings claim against finance-approved copy before review closes.</p:text>
  </p:cm>
</p:cmLst>
</file>

<file path=ppt/comments/comment4.xml><?xml version="1.0" encoding="utf-8"?>
<p:cmLst xmlns:p="http://schemas.openxmlformats.org/presentationml/2006/main">
  <p:cm authorId="2" dt="2026-03-22T09:00:00Z" idx="1">
    <p:pos x="6649649" y="3041009"/>
    <p:text>Test this rail at 320px width; the current padding may clip the tax line.</p:text>
  </p:cm>
</p:cmLst>
</file>

<file path=ppt/comments/comment5.xml><?xml version="1.0" encoding="utf-8"?>
<p:cmLst xmlns:p="http://schemas.openxmlformats.org/presentationml/2006/main">
  <p:cm authorId="0" dt="2026-03-22T09:00:00Z" idx="1">
    <p:pos x="10847114" y="4293915"/>
    <p:text>Decide whether the CTA label changes after card validation succeeds.</p:text>
  </p:cm>
</p:cmLst>
</file>

<file path=ppt/comments/comment6.xml><?xml version="1.0" encoding="utf-8"?>
<p:cmLst xmlns:p="http://schemas.openxmlformats.org/presentationml/2006/main">
  <p:cm authorId="1" dt="2026-03-22T09:00:00Z" idx="1">
    <p:pos x="9613737" y="3881294"/>
    <p:text>Confirm whether installment details belong here or stay in the email receipt.</p:text>
  </p:cm>
</p:cmLst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Notes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/>
  <p:notesStyle/>
</p:notesMaster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  <Relationship Id="rId2" Type="http://schemas.openxmlformats.org/officeDocument/2006/relationships/notesMaster" Target="../notesMasters/notesMaster1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  <Relationship Id="rId2" Type="http://schemas.openxmlformats.org/officeDocument/2006/relationships/notesMaster" Target="../notesMasters/notesMaster1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  <Relationship Id="rId2" Type="http://schemas.openxmlformats.org/officeDocument/2006/relationships/notesMaster" Target="../notesMasters/notesMaster1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  <Relationship Id="rId2" Type="http://schemas.openxmlformats.org/officeDocument/2006/relationships/notesMaster" Target="../notesMasters/notesMaster1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  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mobile-only scope and confirm this variant stays limited to first-time guest checkout.</a:t>
            </a:r>
            <a:endParaRPr lang="en-US" dirty="0"/>
          </a:p>
          <a:p>
            <a:r>
              <a:rPr lang="en-US" dirty="0"/>
              <a:t>Call out that the trust badges are illustrative and not locked for launch.</a:t>
            </a:r>
            <a:endParaRPr lang="en-US" dirty="0"/>
          </a:p>
          <a:p>
            <a:r>
              <a:rPr lang="en-US" dirty="0"/>
              <a:t>Ask product analytics to verify the event names before sign-off.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that the annual plan remains opt-in; the monthly plan stays selected by default.</a:t>
            </a:r>
            <a:endParaRPr lang="en-US" dirty="0"/>
          </a:p>
          <a:p>
            <a:r>
              <a:rPr lang="en-US" dirty="0"/>
              <a:t>Mention that legal review is still open on the savings disclosure text.</a:t>
            </a:r>
            <a:endParaRPr lang="en-US" dirty="0"/>
          </a:p>
          <a:p>
            <a:r>
              <a:rPr lang="en-US" dirty="0"/>
              <a:t>Highlight the need for a clearer downgrade path before experiment launch.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sticky summary as a mobile affordance rather than a final layout lock.</a:t>
            </a:r>
            <a:endParaRPr lang="en-US" dirty="0"/>
          </a:p>
          <a:p>
            <a:r>
              <a:rPr lang="en-US" dirty="0"/>
              <a:t>Note that address validation errors are not shown on this mock and still need a fallback state.</a:t>
            </a:r>
            <a:endParaRPr lang="en-US" dirty="0"/>
          </a:p>
          <a:p>
            <a:r>
              <a:rPr lang="en-US" dirty="0"/>
              <a:t>Ask engineering to confirm that keyboard overlap is already handled in the prototype.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wallet buttons should appear before manual card entry on supported devices.</a:t>
            </a:r>
            <a:endParaRPr lang="en-US" dirty="0"/>
          </a:p>
          <a:p>
            <a:r>
              <a:rPr lang="en-US" dirty="0"/>
              <a:t>Mention that 3DS fallback stays inline unless issuer friction forces a redirect.</a:t>
            </a:r>
            <a:endParaRPr lang="en-US" dirty="0"/>
          </a:p>
          <a:p>
            <a:r>
              <a:rPr lang="en-US" dirty="0"/>
              <a:t>Flag the copy debt around the tax estimate helper text.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confirmation screen as the moment to reinforce delivery timing and support contact points.</a:t>
            </a:r>
            <a:endParaRPr lang="en-US" dirty="0"/>
          </a:p>
          <a:p>
            <a:r>
              <a:rPr lang="en-US" dirty="0"/>
              <a:t>Ask whether account creation should remain secondary to receipt review.</a:t>
            </a:r>
            <a:endParaRPr lang="en-US" dirty="0"/>
          </a:p>
          <a:p>
            <a:r>
              <a:rPr lang="en-US" dirty="0"/>
              <a:t>Confirm that the reorder shortcut is out of scope for this release.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2.xml" /><ns0:Relationship Id="rId3" Type="http://schemas.openxmlformats.org/officeDocument/2006/relationships/comments" Target="../comments/comment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3.xml" /><ns0:Relationship Id="rId3" Type="http://schemas.openxmlformats.org/officeDocument/2006/relationships/comments" Target="../comments/comment3.xml" /></ns0:Relationships>
</file>

<file path=ppt/slides/_rels/slide4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2.xml" /><ns0:Relationship Id="rId3" Type="http://schemas.openxmlformats.org/officeDocument/2006/relationships/notesSlide" Target="../notesSlides/notesSlide4.xml" /><ns0:Relationship Id="rId4" Type="http://schemas.openxmlformats.org/officeDocument/2006/relationships/comments" Target="../comments/comment4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5.xml" /><ns0:Relationship Id="rId3" Type="http://schemas.openxmlformats.org/officeDocument/2006/relationships/comments" Target="../comments/comment5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6.xml" /><ns0:Relationship Id="rId3" Type="http://schemas.openxmlformats.org/officeDocument/2006/relationships/comments" Target="../comments/comment6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Checkout Refresh Design Review</a:t>
            </a:r>
            <a:endParaRPr lang="en-US" dirty="0"/>
          </a:p>
        </p:txBody>
      </p:sp>
    </p:spTree>
    <p:extLst>
      <p:ext uri="{BB962C8B-B14F-4D97-AF65-F5344CB8AC3E}">
        <ns3:creationId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Landing Hero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Explores a simplified guest checkout entry point with delivery promise, trust badges, and experiment copy variants for first-time mobile shoppers.</a:t>
            </a:r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2648606" y="4254090"/>
            <a:ext cx="7903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Hero banner mock</a:t>
            </a:r>
            <a:endParaRPr lang="en-US" dirty="0"/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Compares monthly and annual subscription treatments, emphasizing savings comprehension and contract disclosure placement before opt-in.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2113221" y="50090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Annual savings badge</a:t>
            </a:r>
            <a:endParaRPr lang="en-US" dirty="0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Step</a:t>
            </a:r>
            <a:endParaRPr lang="en-US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371877" y="31610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Sticky summary rail</a:t>
            </a:r>
            <a:endParaRPr lang="en-US" dirty="0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 Details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Reviews card entry, wallet shortcuts, and inline risk checks with a focus on minimizing drop-off without hiding compliance messaging.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4569342" y="441391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Primary CTA</a:t>
            </a:r>
            <a:endParaRPr lang="en-US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Confirmation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Shows the post-purchase receipt state, delivery expectations, and next-step nudges for account creation after guest checkout.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3335965" y="400129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Receipt breakdown</a:t>
            </a:r>
            <a:endParaRPr lang="en-US" dirty="0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228600">
              <a:buChar char="•"/>
            </a:pPr>
            <a:r>
              <a:rPr lang="en-US" dirty="0"/>
              <a:t>Rina Patel: Confirm localized shipping promise for the hero banner.</a:t>
            </a:r>
            <a:endParaRPr lang="en-US" dirty="0"/>
          </a:p>
          <a:p>
            <a:pPr marL="457200" indent="-228600">
              <a:buChar char="•"/>
            </a:pPr>
            <a:r>
              <a:rPr lang="en-US" dirty="0"/>
              <a:t>Marcus Lee: Finalize the finance-approved savings disclosure.</a:t>
            </a:r>
            <a:endParaRPr lang="en-US" dirty="0"/>
          </a:p>
          <a:p>
            <a:pPr marL="457200" indent="-228600">
              <a:buChar char="•"/>
            </a:pPr>
            <a:r>
              <a:rPr lang="en-US" dirty="0"/>
              <a:t>Sara Kim: Resolve the 320px clipping issue on the sticky summary rail.</a:t>
            </a:r>
            <a:endParaRPr lang="en-US" dirty="0"/>
          </a:p>
          <a:p>
            <a:pPr marL="457200" indent="-228600">
              <a:buChar char="•"/>
            </a:pPr>
            <a:r>
              <a:rPr lang="en-US" dirty="0"/>
              <a:t>Rina Patel: Choose the final payment CTA label after validation.</a:t>
            </a:r>
            <a:endParaRPr lang="en-US" dirty="0"/>
          </a:p>
          <a:p>
            <a:pPr marL="457200" indent="-228600">
              <a:buChar char="•"/>
            </a:pPr>
            <a:r>
              <a:rPr lang="en-US" dirty="0"/>
              <a:t>Marcus Lee: Decide where installment details should appear after checkout.</a:t>
            </a:r>
            <a:endParaRPr lang="en-US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