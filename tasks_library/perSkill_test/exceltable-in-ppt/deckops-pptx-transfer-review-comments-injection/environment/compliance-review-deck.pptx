
<file path=[Content_Types].xml><?xml version="1.0" encoding="utf-8"?>
<ns0:Types xmlns:ns0="http://schemas.openxmlformats.org/package/2006/content-types">
  <ns0:Default Extension="emf" ContentType="image/x-emf"/>
  <ns0:Default Extension="jpeg" ContentType="image/jpeg"/>
  <ns0:Default Extension="rels" ContentType="application/vnd.openxmlformats-package.relationships+xml"/>
  <ns0:Default Extension="xlsx" ContentType="application/vnd.openxmlformats-officedocument.spreadsheetml.sheet"/>
  <ns0:Default Extension="xml" ContentType="application/xml"/>
  <ns0:Override PartName="/ppt/presentation.xml" ContentType="application/vnd.openxmlformats-officedocument.presentationml.presentation.main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</ns0: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3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Relationship Id="rId4" Type="http://schemas.openxmlformats.org/officeDocument/2006/relationships/viewProps" Target="viewProps.xml" /><Relationship Id="rId7" Type="http://schemas.openxmlformats.org/officeDocument/2006/relationships/slide" Target="slides/slide2.xml" /><Relationship Id="rId8" Type="http://schemas.openxmlformats.org/officeDocument/2006/relationships/slide" Target="slides/slide3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Review Control Sheet</a:t>
            </a:r>
          </a:p>
        </p:txBody>
      </p:sp>
      <p:sp>
        <p:nvSpPr>
          <p:cNvPr id="3" name="Instructions"/>
          <p:cNvSpPr txBox="1"/>
          <p:nvPr/>
        </p:nvSpPr>
        <p:spPr>
          <a:xfrm>
            <a:off x="762000" y="1219200"/>
            <a:ext cx="10668000" cy="914400"/>
          </a:xfrm>
          <a:prstGeom prst="rect">
            <a:avLst/>
          </a:prstGeom>
          <a:solidFill>
            <a:srgbClr val="F3F6FB"/>
          </a:solidFill>
          <a:ln w="12700">
            <a:solidFill>
              <a:srgbClr val="9AA8C4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Read each review line and add a PowerPoint comment to the matching text box on the noted slide.</a:t>
            </a:r>
          </a:p>
          <a:p>
            <a:r>
              <a:rPr lang="en-US" sz="1800" dirty="0"/>
              <a:t>Do not edit any existing slide text. Only inject comments and the required author metadata.</a:t>
            </a:r>
          </a:p>
        </p:txBody>
      </p:sp>
      <p:sp>
        <p:nvSpPr>
          <p:cNvPr id="4" name="Review Checklist"/>
          <p:cNvSpPr txBox="1"/>
          <p:nvPr/>
        </p:nvSpPr>
        <p:spPr>
          <a:xfrm>
            <a:off x="762000" y="2438400"/>
            <a:ext cx="10668000" cy="3048000"/>
          </a:xfrm>
          <a:prstGeom prst="rect">
            <a:avLst/>
          </a:prstGeom>
          <a:solidFill>
            <a:srgbClr val="FFF4DD"/>
          </a:solidFill>
          <a:ln w="12700">
            <a:solidFill>
              <a:srgbClr val="D4A037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dirty="0"/>
              <a:t>S2 | Policy Coverage | Iris Tan | IT | Add the contractor monitoring exception.</a:t>
            </a:r>
          </a:p>
          <a:p>
            <a:r>
              <a:rPr lang="en-US" sz="1900" dirty="0"/>
              <a:t>S2 | Open Issues | Omar Ali | OA | State who owns the remediation tracker.</a:t>
            </a:r>
          </a:p>
          <a:p>
            <a:r>
              <a:rPr lang="en-US" sz="1900" dirty="0"/>
              <a:t>S3 | Evidence Gaps | Iris Tan | IT | Quote the retention period from the policy appendix.</a:t>
            </a:r>
          </a:p>
        </p:txBody>
      </p:sp>
      <p:sp>
        <p:nvSpPr>
          <p:cNvPr id="5" name="Reminder"/>
          <p:cNvSpPr txBox="1"/>
          <p:nvPr/>
        </p:nvSpPr>
        <p:spPr>
          <a:xfrm>
            <a:off x="762000" y="5791200"/>
            <a:ext cx="10668000" cy="53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Target the box whose first line matches the checklist label exactly.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Supplier Oversight Summary</a:t>
            </a:r>
          </a:p>
        </p:txBody>
      </p:sp>
      <p:sp>
        <p:nvSpPr>
          <p:cNvPr id="3" name="Current Status"/>
          <p:cNvSpPr txBox="1"/>
          <p:nvPr/>
        </p:nvSpPr>
        <p:spPr>
          <a:xfrm>
            <a:off x="762000" y="1219200"/>
            <a:ext cx="4953000" cy="1600200"/>
          </a:xfrm>
          <a:prstGeom prst="rect">
            <a:avLst/>
          </a:prstGeom>
          <a:solidFill>
            <a:srgbClr val="EAF3FF"/>
          </a:solidFill>
          <a:ln w="12700">
            <a:solidFill>
              <a:srgbClr val="5B84C4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Current Status</a:t>
            </a:r>
          </a:p>
          <a:p>
            <a:r>
              <a:rPr lang="en-US" sz="1900" dirty="0"/>
              <a:t>Quarterly due diligence coverage is stable across the top twenty vendors.</a:t>
            </a:r>
          </a:p>
        </p:txBody>
      </p:sp>
      <p:sp>
        <p:nvSpPr>
          <p:cNvPr id="4" name="Policy Coverage"/>
          <p:cNvSpPr txBox="1"/>
          <p:nvPr/>
        </p:nvSpPr>
        <p:spPr>
          <a:xfrm>
            <a:off x="5943600" y="1219200"/>
            <a:ext cx="4876800" cy="1600200"/>
          </a:xfrm>
          <a:prstGeom prst="rect">
            <a:avLst/>
          </a:prstGeom>
          <a:solidFill>
            <a:srgbClr val="FDEBD2"/>
          </a:solidFill>
          <a:ln w="12700">
            <a:solidFill>
              <a:srgbClr val="C67C3A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Policy Coverage</a:t>
            </a:r>
          </a:p>
          <a:p>
            <a:r>
              <a:rPr lang="en-US" sz="1900" dirty="0"/>
              <a:t>Current draft covers screening, onboarding, and third-party due diligence.</a:t>
            </a:r>
          </a:p>
        </p:txBody>
      </p:sp>
      <p:sp>
        <p:nvSpPr>
          <p:cNvPr id="5" name="Open Issues"/>
          <p:cNvSpPr txBox="1"/>
          <p:nvPr/>
        </p:nvSpPr>
        <p:spPr>
          <a:xfrm>
            <a:off x="5943600" y="3200400"/>
            <a:ext cx="4876800" cy="1600200"/>
          </a:xfrm>
          <a:prstGeom prst="rect">
            <a:avLst/>
          </a:prstGeom>
          <a:solidFill>
            <a:srgbClr val="F9E3E3"/>
          </a:solidFill>
          <a:ln w="12700">
            <a:solidFill>
              <a:srgbClr val="B24C4C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Open Issues</a:t>
            </a:r>
          </a:p>
          <a:p>
            <a:r>
              <a:rPr lang="en-US" sz="1900" dirty="0"/>
              <a:t>Regional escalation owner is not stated in the current summary.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09600" y="304800"/>
            <a:ext cx="10668000" cy="685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Recordkeeping Exceptions</a:t>
            </a:r>
          </a:p>
        </p:txBody>
      </p:sp>
      <p:sp>
        <p:nvSpPr>
          <p:cNvPr id="3" name="Evidence Gaps"/>
          <p:cNvSpPr txBox="1"/>
          <p:nvPr/>
        </p:nvSpPr>
        <p:spPr>
          <a:xfrm>
            <a:off x="762000" y="1524000"/>
            <a:ext cx="5181600" cy="1828800"/>
          </a:xfrm>
          <a:prstGeom prst="rect">
            <a:avLst/>
          </a:prstGeom>
          <a:solidFill>
            <a:srgbClr val="E9F5DB"/>
          </a:solidFill>
          <a:ln w="12700">
            <a:solidFill>
              <a:srgbClr val="6B8E23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Evidence Gaps</a:t>
            </a:r>
          </a:p>
          <a:p>
            <a:r>
              <a:rPr lang="en-US" sz="1900" dirty="0"/>
              <a:t>Retention support still references the 2022 archive sample only.</a:t>
            </a:r>
          </a:p>
        </p:txBody>
      </p:sp>
      <p:sp>
        <p:nvSpPr>
          <p:cNvPr id="4" name="Next Steps"/>
          <p:cNvSpPr txBox="1"/>
          <p:nvPr/>
        </p:nvSpPr>
        <p:spPr>
          <a:xfrm>
            <a:off x="6400800" y="1524000"/>
            <a:ext cx="4114800" cy="1828800"/>
          </a:xfrm>
          <a:prstGeom prst="rect">
            <a:avLst/>
          </a:prstGeom>
          <a:solidFill>
            <a:srgbClr val="EEE8FF"/>
          </a:solidFill>
          <a:ln w="12700">
            <a:solidFill>
              <a:srgbClr val="7A68A6"/>
            </a:solidFill>
          </a:ln>
        </p:spPr>
        <p:txBody>
          <a:bodyPr wrap="square" rtlCol="0">
            <a:spAutoFit/>
          </a:bodyPr>
          <a:lstStyle/>
          <a:p>
            <a:r>
              <a:rPr lang="en-US" sz="1900" b="1" dirty="0"/>
              <a:t>Next Steps</a:t>
            </a:r>
          </a:p>
          <a:p>
            <a:r>
              <a:rPr lang="en-US" sz="1900" dirty="0"/>
              <a:t>Refresh the archive evidence log before the steering committee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