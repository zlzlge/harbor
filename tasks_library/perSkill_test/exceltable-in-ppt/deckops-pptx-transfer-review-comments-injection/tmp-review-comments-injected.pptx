
<file path=[Content_Types].xml><?xml version="1.0" encoding="utf-8"?>
<ns0:Types xmlns:ns0="http://schemas.openxmlformats.org/package/2006/content-types">
  <ns0:Default Extension="emf" ContentType="image/x-emf"/>
  <ns0:Default Extension="jpeg" ContentType="image/jpeg"/>
  <ns0:Default Extension="rels" ContentType="application/vnd.openxmlformats-package.relationships+xml"/>
  <ns0:Default Extension="xlsx" ContentType="application/vnd.openxmlformats-officedocument.spreadsheetml.sheet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commentAuthors.xml" ContentType="application/vnd.openxmlformats-officedocument.presentationml.commentAuthors+xml"/>
  <ns0:Override PartName="/ppt/comments/comment1.xml" ContentType="application/vnd.openxmlformats-officedocument.presentationml.comments+xml"/>
  <ns0:Override PartName="/ppt/comments/comment2.xml" ContentType="application/vnd.openxmlformats-officedocument.presentationml.comments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commentAuthors.xml><?xml version="1.0" encoding="utf-8"?>
<p:cmAuthorLst xmlns:p="http://schemas.openxmlformats.org/presentationml/2006/main">
  <p:cmAuthor id="0" name="Iris Tan" initials="IT" lastIdx="2" clrIdx="0"/>
  <p:cmAuthor id="1" name="Omar Ali" initials="O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commentAuthors" Target="commentAuthors.xml" /></Relationships>
</file>

<file path=ppt/comments/comment1.xml><?xml version="1.0" encoding="utf-8"?>
<p:cmLst xmlns:p="http://schemas.openxmlformats.org/presentationml/2006/main">
  <p:cm authorId="0" dt="2026-03-19T09:00:00Z" idx="1">
    <p:pos x="10668000" y="1371600"/>
    <p:text>Add the contractor monitoring exception.</p:text>
  </p:cm>
  <p:cm authorId="1" dt="2026-03-19T09:00:00Z" idx="1">
    <p:pos x="10668000" y="3352800"/>
    <p:text>State who owns the remediation tracker.</p:text>
  </p:cm>
</p:cmLst>
</file>

<file path=ppt/comments/comment2.xml><?xml version="1.0" encoding="utf-8"?>
<p:cmLst xmlns:p="http://schemas.openxmlformats.org/presentationml/2006/main">
  <p:cm authorId="0" dt="2026-03-19T09:00:00Z" idx="2">
    <p:pos x="5791200" y="1676400"/>
    <p:text>Quote the retention period from the policy appendix.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EFE2-88B5-CF09-4175-636B0A5ED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2B640-ECC6-60BB-F774-58EC22123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2A6A-73CE-DBC6-DCDC-E8939FEE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14A01-B83E-8105-E7DA-5754A3B2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75356-2E7E-8F53-EEC6-C053C7A1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C469-9C97-828F-F2C6-E0B15D3E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9FBD-F661-BE7D-3804-EBF37C23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9FD9-2494-5040-3B84-66773D38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EBB3-59EF-0AC9-536D-19A75F70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3215-748B-5CC9-F5EB-74FFC724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8265-20B1-1117-E103-FDE9F272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7BE6F-0006-7F2C-83D1-777DB2798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16C4-9FB5-089E-7500-DC6A50E0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E40B7-2F68-47F9-E50F-6397484E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6B014-CB57-47A8-3C57-EE0F9F1F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0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1B0B-3A4C-5265-4E14-EE60E818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57518-CAC8-BB59-E08C-4676A335C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EA936-FEEA-4DC6-DF6A-909BBF397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C88A7-CC21-DF97-B230-C8CDA288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885A4-9A1F-BA4F-51BD-6D01C71C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0F20-3144-A185-9D1A-1828BF25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3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4E70-D1AE-823C-C1C3-BD8DE011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5A2A2-2E31-2221-D88A-4FEC4A47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6CA15-82EB-11D6-E836-68CBB4FB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8F8E2-47FC-0E69-6381-DCDFE24B1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95EFE-0A37-C47C-C7D6-9F0EFF40A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9783A-A24A-344E-7D8C-2A7F2FBC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75FCA-2E39-C799-540B-31A5F868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C9485-F96F-A529-6EDC-EBB8D862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4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DD3D-9C1C-C060-055D-3EA7AEC3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A9EC0-285C-4761-8A8F-613147DD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47241-0CA9-A993-3468-DE960037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5FB7D-B8CE-1825-A9EC-D5D0F4E8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0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FE379-B2DD-CAA7-2663-ECE8E0CA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38247-25FD-A960-E321-DA0166E4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B4096-4992-4E00-2CFE-EA11ACD0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9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378E-4871-F3B2-CA41-BAFABCCA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EAE9-1313-E989-F622-79378B03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E995C-E678-C763-C32B-8ABB8ECAE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E20D3-699B-2442-4280-09DB35F7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E8539-9A69-50D1-2973-FA5136A1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C422E-AE88-EC37-3010-5CABD6E6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1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56EE-ECE5-4833-14B4-210473AC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92AB5-B19C-713D-C8B1-632200806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7257E-DA2F-BCC6-4A38-DCAFF6896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26EBA-E25D-7DE1-E581-37CFC3A6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438EF-C5ED-7E31-71B8-6C4B99F3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DE623-5F36-7C4F-8D74-28C74846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3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D19C-B7CC-69CD-8F4A-612B24E1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742DF-FFB0-01D5-0A4C-D03D1434F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7F1D-113A-AD76-ED23-6AF2AC2B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84003-8D20-1EFE-1B67-1F63BDF2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E5C30-C402-A4C4-3B04-2F4D2B3A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8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66C72-BF6B-2026-DC0A-432CD5BB7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A5D47-06D7-2D8E-D50E-7A9CE8DD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106EB-1547-4431-8CA5-7E9DD7FA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8E16B-148B-4781-FEE1-A4018736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C1E2B-330F-97FE-AEB3-19056876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38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1DBD3-99EE-A6F3-6527-888B3A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0B695-199C-1E93-C778-23E4C03F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64FCF-AE59-8015-F019-917C42DE0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C842-C4A8-F313-6552-1265B2730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B4E85-56C9-8840-C511-824CCDC92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3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/Relationships>
</file>

<file path=ppt/slides/_rels/slide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6.xml" />
<Relationship Id="rId2" Type="http://schemas.openxmlformats.org/officeDocument/2006/relationships/comments" Target="../comments/comment1.xml" /></Relationships>
</file>

<file path=ppt/slides/_rels/slide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6.xml" />
<Relationship Id="rId2" Type="http://schemas.openxmlformats.org/officeDocument/2006/relationships/comments" Target="../comments/commen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04800"/>
            <a:ext cx="106680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Review Control Sheet</a:t>
            </a:r>
          </a:p>
        </p:txBody>
      </p:sp>
      <p:sp>
        <p:nvSpPr>
          <p:cNvPr id="3" name="Instructions"/>
          <p:cNvSpPr txBox="1"/>
          <p:nvPr/>
        </p:nvSpPr>
        <p:spPr>
          <a:xfrm>
            <a:off x="762000" y="1219200"/>
            <a:ext cx="10668000" cy="914400"/>
          </a:xfrm>
          <a:prstGeom prst="rect">
            <a:avLst/>
          </a:prstGeom>
          <a:solidFill>
            <a:srgbClr val="F3F6FB"/>
          </a:solidFill>
          <a:ln w="12700">
            <a:solidFill>
              <a:srgbClr val="9AA8C4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Read each review line and add a PowerPoint comment to the matching text box on the noted slide.</a:t>
            </a:r>
          </a:p>
          <a:p>
            <a:r>
              <a:rPr lang="en-US" sz="1800" dirty="0"/>
              <a:t>Do not edit any existing slide text. Only inject comments and the required author metadata.</a:t>
            </a:r>
          </a:p>
        </p:txBody>
      </p:sp>
      <p:sp>
        <p:nvSpPr>
          <p:cNvPr id="4" name="Review Checklist"/>
          <p:cNvSpPr txBox="1"/>
          <p:nvPr/>
        </p:nvSpPr>
        <p:spPr>
          <a:xfrm>
            <a:off x="762000" y="2438400"/>
            <a:ext cx="10668000" cy="3048000"/>
          </a:xfrm>
          <a:prstGeom prst="rect">
            <a:avLst/>
          </a:prstGeom>
          <a:solidFill>
            <a:srgbClr val="FFF4DD"/>
          </a:solidFill>
          <a:ln w="12700">
            <a:solidFill>
              <a:srgbClr val="D4A037"/>
            </a:solidFill>
          </a:ln>
        </p:spPr>
        <p:txBody>
          <a:bodyPr wrap="square" rtlCol="0">
            <a:spAutoFit/>
          </a:bodyPr>
          <a:lstStyle/>
          <a:p>
            <a:r>
              <a:rPr lang="en-US" sz="1900" dirty="0"/>
              <a:t>S2 | Policy Coverage | Iris Tan | IT | Add the contractor monitoring exception.</a:t>
            </a:r>
          </a:p>
          <a:p>
            <a:r>
              <a:rPr lang="en-US" sz="1900" dirty="0"/>
              <a:t>S2 | Open Issues | Omar Ali | OA | State who owns the remediation tracker.</a:t>
            </a:r>
          </a:p>
          <a:p>
            <a:r>
              <a:rPr lang="en-US" sz="1900" dirty="0"/>
              <a:t>S3 | Evidence Gaps | Iris Tan | IT | Quote the retention period from the policy appendix.</a:t>
            </a:r>
          </a:p>
        </p:txBody>
      </p:sp>
      <p:sp>
        <p:nvSpPr>
          <p:cNvPr id="5" name="Reminder"/>
          <p:cNvSpPr txBox="1"/>
          <p:nvPr/>
        </p:nvSpPr>
        <p:spPr>
          <a:xfrm>
            <a:off x="762000" y="5791200"/>
            <a:ext cx="106680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Target the box whose first line matches the checklist label exactly.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04800"/>
            <a:ext cx="106680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Supplier Oversight Summary</a:t>
            </a:r>
          </a:p>
        </p:txBody>
      </p:sp>
      <p:sp>
        <p:nvSpPr>
          <p:cNvPr id="3" name="Current Status"/>
          <p:cNvSpPr txBox="1"/>
          <p:nvPr/>
        </p:nvSpPr>
        <p:spPr>
          <a:xfrm>
            <a:off x="762000" y="1219200"/>
            <a:ext cx="4953000" cy="1600200"/>
          </a:xfrm>
          <a:prstGeom prst="rect">
            <a:avLst/>
          </a:prstGeom>
          <a:solidFill>
            <a:srgbClr val="EAF3FF"/>
          </a:solidFill>
          <a:ln w="12700">
            <a:solidFill>
              <a:srgbClr val="5B84C4"/>
            </a:solidFill>
          </a:ln>
        </p:spPr>
        <p:txBody>
          <a:bodyPr wrap="square" rtlCol="0">
            <a:spAutoFit/>
          </a:bodyPr>
          <a:lstStyle/>
          <a:p>
            <a:r>
              <a:rPr lang="en-US" sz="1900" b="1" dirty="0"/>
              <a:t>Current Status</a:t>
            </a:r>
          </a:p>
          <a:p>
            <a:r>
              <a:rPr lang="en-US" sz="1900" dirty="0"/>
              <a:t>Quarterly due diligence coverage is stable across the top twenty vendors.</a:t>
            </a:r>
          </a:p>
        </p:txBody>
      </p:sp>
      <p:sp>
        <p:nvSpPr>
          <p:cNvPr id="4" name="Policy Coverage"/>
          <p:cNvSpPr txBox="1"/>
          <p:nvPr/>
        </p:nvSpPr>
        <p:spPr>
          <a:xfrm>
            <a:off x="5943600" y="1219200"/>
            <a:ext cx="4876800" cy="1600200"/>
          </a:xfrm>
          <a:prstGeom prst="rect">
            <a:avLst/>
          </a:prstGeom>
          <a:solidFill>
            <a:srgbClr val="FDEBD2"/>
          </a:solidFill>
          <a:ln w="12700">
            <a:solidFill>
              <a:srgbClr val="C67C3A"/>
            </a:solidFill>
          </a:ln>
        </p:spPr>
        <p:txBody>
          <a:bodyPr wrap="square" rtlCol="0">
            <a:spAutoFit/>
          </a:bodyPr>
          <a:lstStyle/>
          <a:p>
            <a:r>
              <a:rPr lang="en-US" sz="1900" b="1" dirty="0"/>
              <a:t>Policy Coverage</a:t>
            </a:r>
          </a:p>
          <a:p>
            <a:r>
              <a:rPr lang="en-US" sz="1900" dirty="0"/>
              <a:t>Current draft covers screening, onboarding, and third-party due diligence.</a:t>
            </a:r>
          </a:p>
        </p:txBody>
      </p:sp>
      <p:sp>
        <p:nvSpPr>
          <p:cNvPr id="5" name="Open Issues"/>
          <p:cNvSpPr txBox="1"/>
          <p:nvPr/>
        </p:nvSpPr>
        <p:spPr>
          <a:xfrm>
            <a:off x="5943600" y="3200400"/>
            <a:ext cx="4876800" cy="1600200"/>
          </a:xfrm>
          <a:prstGeom prst="rect">
            <a:avLst/>
          </a:prstGeom>
          <a:solidFill>
            <a:srgbClr val="F9E3E3"/>
          </a:solidFill>
          <a:ln w="12700">
            <a:solidFill>
              <a:srgbClr val="B24C4C"/>
            </a:solidFill>
          </a:ln>
        </p:spPr>
        <p:txBody>
          <a:bodyPr wrap="square" rtlCol="0">
            <a:spAutoFit/>
          </a:bodyPr>
          <a:lstStyle/>
          <a:p>
            <a:r>
              <a:rPr lang="en-US" sz="1900" b="1" dirty="0"/>
              <a:t>Open Issues</a:t>
            </a:r>
          </a:p>
          <a:p>
            <a:r>
              <a:rPr lang="en-US" sz="1900" dirty="0"/>
              <a:t>Regional escalation owner is not stated in the current summary.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04800"/>
            <a:ext cx="106680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Recordkeeping Exceptions</a:t>
            </a:r>
          </a:p>
        </p:txBody>
      </p:sp>
      <p:sp>
        <p:nvSpPr>
          <p:cNvPr id="3" name="Evidence Gaps"/>
          <p:cNvSpPr txBox="1"/>
          <p:nvPr/>
        </p:nvSpPr>
        <p:spPr>
          <a:xfrm>
            <a:off x="762000" y="1524000"/>
            <a:ext cx="5181600" cy="1828800"/>
          </a:xfrm>
          <a:prstGeom prst="rect">
            <a:avLst/>
          </a:prstGeom>
          <a:solidFill>
            <a:srgbClr val="E9F5DB"/>
          </a:solidFill>
          <a:ln w="12700">
            <a:solidFill>
              <a:srgbClr val="6B8E23"/>
            </a:solidFill>
          </a:ln>
        </p:spPr>
        <p:txBody>
          <a:bodyPr wrap="square" rtlCol="0">
            <a:spAutoFit/>
          </a:bodyPr>
          <a:lstStyle/>
          <a:p>
            <a:r>
              <a:rPr lang="en-US" sz="1900" b="1" dirty="0"/>
              <a:t>Evidence Gaps</a:t>
            </a:r>
          </a:p>
          <a:p>
            <a:r>
              <a:rPr lang="en-US" sz="1900" dirty="0"/>
              <a:t>Retention support still references the 2022 archive sample only.</a:t>
            </a:r>
          </a:p>
        </p:txBody>
      </p:sp>
      <p:sp>
        <p:nvSpPr>
          <p:cNvPr id="4" name="Next Steps"/>
          <p:cNvSpPr txBox="1"/>
          <p:nvPr/>
        </p:nvSpPr>
        <p:spPr>
          <a:xfrm>
            <a:off x="6400800" y="1524000"/>
            <a:ext cx="4114800" cy="1828800"/>
          </a:xfrm>
          <a:prstGeom prst="rect">
            <a:avLst/>
          </a:prstGeom>
          <a:solidFill>
            <a:srgbClr val="EEE8FF"/>
          </a:solidFill>
          <a:ln w="12700">
            <a:solidFill>
              <a:srgbClr val="7A68A6"/>
            </a:solidFill>
          </a:ln>
        </p:spPr>
        <p:txBody>
          <a:bodyPr wrap="square" rtlCol="0">
            <a:spAutoFit/>
          </a:bodyPr>
          <a:lstStyle/>
          <a:p>
            <a:r>
              <a:rPr lang="en-US" sz="1900" b="1" dirty="0"/>
              <a:t>Next Steps</a:t>
            </a:r>
          </a:p>
          <a:p>
            <a:r>
              <a:rPr lang="en-US" sz="1900" dirty="0"/>
              <a:t>Refresh the archive evidence log before the steering committee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XINYI</dc:creator>
  <cp:lastModifiedBy>LIU, XINYI</cp:lastModifiedBy>
  <cp:revision>8</cp:revision>
  <dcterms:created xsi:type="dcterms:W3CDTF">2026-01-12T19:36:42Z</dcterms:created>
  <dcterms:modified xsi:type="dcterms:W3CDTF">2026-01-13T23:34:26Z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2026-01-12T22:29:00Z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a8e91421-408a-4011-bb4c-ecc18e7d8364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