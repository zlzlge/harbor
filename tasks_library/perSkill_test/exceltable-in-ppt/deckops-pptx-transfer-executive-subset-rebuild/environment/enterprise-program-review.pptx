
<file path=[Content_Types].xml><?xml version="1.0" encoding="utf-8"?>
<ns0:Types xmlns:ns0="http://schemas.openxmlformats.org/package/2006/content-types">
  <ns0:Default Extension="emf" ContentType="image/x-emf"/>
  <ns0:Default Extension="jpeg" ContentType="image/jpe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3="http://schemas.microsoft.com/office/powerpoint/2012/main" xmlns:r="http://schemas.openxmlformats.org/officeDocument/2006/relationships" saveSubsetFonts="1" autoCompressPictures="0">
  <ns0:sldMasterIdLst>
    <ns0:sldMasterId id="2147483648" r:id="rId1"/>
  </ns0:sldMasterIdLst>
  <ns0:sldIdLst>
    <ns0:sldId id="256" r:id="rId2"/>
    <ns0:sldId id="257" r:id="rId7"/>
    <ns0:sldId id="258" r:id="rId8"/>
    <ns0:sldId id="259" r:id="rId9"/>
    <ns0:sldId id="260" r:id="rId10"/>
  </ns0:sldIdLst>
  <ns0:sldSz cx="12192000" cy="6858000"/>
  <ns0:notesSz cx="6858000" cy="9144000"/>
  <ns0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Relationship Id="rId10" Type="http://schemas.openxmlformats.org/officeDocument/2006/relationships/slide" Target="slides/slide5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slide1.xml><?xml version="1.0" encoding="utf-8"?>
<ns0:sld xmlns:a="http://schemas.openxmlformats.org/drawingml/2006/main" xmlns:ns0="http://schemas.openxmlformats.org/presentationml/2006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itle"/>
          <ns0:cNvSpPr txBox="1"/>
          <ns0:nvPr/>
        </ns0:nvSpPr>
        <ns0:spPr>
          <a:xfrm>
            <a:off x="609600" y="304800"/>
            <a:ext cx="10668000" cy="685800"/>
          </a:xfrm>
          <a:prstGeom prst="rect">
            <a:avLst/>
          </a:prstGeom>
          <a:noFill/>
        </ns0:spPr>
        <ns0:txBody>
          <a:bodyPr wrap="square" rtlCol="0">
            <a:spAutoFit/>
          </a:bodyPr>
          <a:lstStyle/>
          <a:p>
            <a:r>
              <a:rPr lang="en-US" sz="2800" b="1" dirty="0"/>
              <a:t>Enterprise Program Review</a:t>
            </a:r>
          </a:p>
        </ns0:txBody>
      </ns0:sp>
      <ns0:sp>
        <ns0:nvSpPr>
          <ns0:cNvPr id="3" name="Instructions"/>
          <ns0:cNvSpPr txBox="1"/>
          <ns0:nvPr/>
        </ns0:nvSpPr>
        <ns0:spPr>
          <a:xfrm>
            <a:off x="762000" y="1219200"/>
            <a:ext cx="10668000" cy="914400"/>
          </a:xfrm>
          <a:prstGeom prst="rect">
            <a:avLst/>
          </a:prstGeom>
          <a:solidFill>
            <a:srgbClr val="F3F6FB"/>
          </a:solidFill>
          <a:ln w="12700">
            <a:solidFill>
              <a:srgbClr val="9AA8C4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800" dirty="0"/>
              <a:t>Prepare a short executive subset deck from the current report.</a:t>
            </a:r>
          </a:p>
          <a:p>
            <a:r>
              <a:rPr lang="en-US" sz="1800" dirty="0"/>
              <a:t>Use only the existing content slides and keep their wording and layout unchanged when you rebuild the subset.</a:t>
            </a:r>
          </a:p>
        </ns0:txBody>
      </ns0:sp>
      <ns0:sp>
        <ns0:nvSpPr>
          <ns0:cNvPr id="4" name="Review Checklist"/>
          <ns0:cNvSpPr txBox="1"/>
          <ns0:nvPr/>
        </ns0:nvSpPr>
        <ns0:spPr>
          <a:xfrm>
            <a:off x="762000" y="2438400"/>
            <a:ext cx="10668000" cy="3048000"/>
          </a:xfrm>
          <a:prstGeom prst="rect">
            <a:avLst/>
          </a:prstGeom>
          <a:solidFill>
            <a:srgbClr val="FFF4DD"/>
          </a:solidFill>
          <a:ln w="12700">
            <a:solidFill>
              <a:srgbClr val="D4A037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dirty="0"/>
              <a:t>Executive subset order: slides 4, 2, 5, 2.</a:t>
            </a:r>
          </a:p>
          <a:p>
            <a:r>
              <a:rPr lang="en-US" sz="1900" dirty="0"/>
              <a:t>Repeat the requested slide if it appears more than once in the sequence.</a:t>
            </a:r>
          </a:p>
          <a:p>
            <a:r>
              <a:rPr lang="en-US" sz="1900" dirty="0"/>
              <a:t>Do not include this instruction cover in the final deck.</a:t>
            </a:r>
          </a:p>
        </ns0:txBody>
      </ns0:sp>
      <ns0:sp>
        <ns0:nvSpPr>
          <ns0:cNvPr id="5" name="Reminder"/>
          <ns0:cNvSpPr txBox="1"/>
          <ns0:nvPr/>
        </ns0:nvSpPr>
        <ns0:spPr>
          <a:xfrm>
            <a:off x="762000" y="5791200"/>
            <a:ext cx="10668000" cy="533400"/>
          </a:xfrm>
          <a:prstGeom prst="rect">
            <a:avLst/>
          </a:prstGeom>
          <a:noFill/>
        </ns0:spPr>
        <ns0:txBody>
          <a:bodyPr wrap="square" rtlCol="0">
            <a:spAutoFit/>
          </a:bodyPr>
          <a:lstStyle/>
          <a:p>
            <a:r>
              <a:rPr lang="en-US" sz="1600" dirty="0"/>
              <a:t>Build the new file as a separate presentation.</a:t>
            </a:r>
          </a:p>
        </ns0:txBody>
      </ns0:sp>
    </ns0:spTree>
  </ns0:cSld>
  <ns0:clrMapOvr>
    <a:masterClrMapping/>
  </ns0:clrMapOvr>
</ns0:sld>
</file>

<file path=ppt/slides/slide2.xml><?xml version="1.0" encoding="utf-8"?>
<ns0:sld xmlns:a="http://schemas.openxmlformats.org/drawingml/2006/main" xmlns:ns0="http://schemas.openxmlformats.org/presentationml/2006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itle"/>
          <ns0:cNvSpPr txBox="1"/>
          <ns0:nvPr/>
        </ns0:nvSpPr>
        <ns0:spPr>
          <a:xfrm>
            <a:off x="609600" y="304800"/>
            <a:ext cx="10668000" cy="685800"/>
          </a:xfrm>
          <a:prstGeom prst="rect">
            <a:avLst/>
          </a:prstGeom>
          <a:noFill/>
        </ns0:spPr>
        <ns0:txBody>
          <a:bodyPr wrap="square" rtlCol="0">
            <a:spAutoFit/>
          </a:bodyPr>
          <a:lstStyle/>
          <a:p>
            <a:r>
              <a:rPr lang="en-US" sz="2800" b="1" dirty="0"/>
              <a:t>Regional Margin Snapshot</a:t>
            </a:r>
          </a:p>
        </ns0:txBody>
      </ns0:sp>
      <ns0:sp>
        <ns0:nvSpPr>
          <ns0:cNvPr id="3" name="Current Status"/>
          <ns0:cNvSpPr txBox="1"/>
          <ns0:nvPr/>
        </ns0:nvSpPr>
        <ns0:spPr>
          <a:xfrm>
            <a:off x="762000" y="1219200"/>
            <a:ext cx="4953000" cy="1600200"/>
          </a:xfrm>
          <a:prstGeom prst="rect">
            <a:avLst/>
          </a:prstGeom>
          <a:solidFill>
            <a:srgbClr val="EAF3FF"/>
          </a:solidFill>
          <a:ln w="12700">
            <a:solidFill>
              <a:srgbClr val="5B84C4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Current Signal</a:t>
            </a:r>
          </a:p>
          <a:p>
            <a:r>
              <a:rPr lang="en-US" sz="1900" dirty="0"/>
              <a:t>North America margin recovered to 18.4 percent after two quarters of discount controls.</a:t>
            </a:r>
          </a:p>
        </ns0:txBody>
      </ns0:sp>
      <ns0:sp>
        <ns0:nvSpPr>
          <ns0:cNvPr id="4" name="Policy Coverage"/>
          <ns0:cNvSpPr txBox="1"/>
          <ns0:nvPr/>
        </ns0:nvSpPr>
        <ns0:spPr>
          <a:xfrm>
            <a:off x="5943600" y="1219200"/>
            <a:ext cx="4876800" cy="1600200"/>
          </a:xfrm>
          <a:prstGeom prst="rect">
            <a:avLst/>
          </a:prstGeom>
          <a:solidFill>
            <a:srgbClr val="FDEBD2"/>
          </a:solidFill>
          <a:ln w="12700">
            <a:solidFill>
              <a:srgbClr val="C67C3A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Leadership Ask</a:t>
            </a:r>
          </a:p>
          <a:p>
            <a:r>
              <a:rPr lang="en-US" sz="1900" dirty="0"/>
              <a:t>Keep price discipline in enterprise renewals through the June planning cycle.</a:t>
            </a:r>
          </a:p>
        </ns0:txBody>
      </ns0:sp>
      <ns0:sp>
        <ns0:nvSpPr>
          <ns0:cNvPr id="5" name="Open Issues"/>
          <ns0:cNvSpPr txBox="1"/>
          <ns0:nvPr/>
        </ns0:nvSpPr>
        <ns0:spPr>
          <a:xfrm>
            <a:off x="5943600" y="3200400"/>
            <a:ext cx="4876800" cy="1600200"/>
          </a:xfrm>
          <a:prstGeom prst="rect">
            <a:avLst/>
          </a:prstGeom>
          <a:solidFill>
            <a:srgbClr val="F9E3E3"/>
          </a:solidFill>
          <a:ln w="12700">
            <a:solidFill>
              <a:srgbClr val="B24C4C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Risk Watch</a:t>
            </a:r>
          </a:p>
          <a:p>
            <a:r>
              <a:rPr lang="en-US" sz="1900" dirty="0"/>
              <a:t>Southern region mix is still pressured by service credits on two large accounts.</a:t>
            </a:r>
          </a:p>
        </ns0:txBody>
      </ns0:sp>
    </ns0:spTree>
  </ns0:cSld>
  <ns0:clrMapOvr>
    <a:masterClrMapping/>
  </ns0:clrMapOvr>
</ns0:sld>
</file>

<file path=ppt/slides/slide3.xml><?xml version="1.0" encoding="utf-8"?>
<ns0:sld xmlns:a="http://schemas.openxmlformats.org/drawingml/2006/main" xmlns:ns0="http://schemas.openxmlformats.org/presentationml/2006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itle"/>
          <ns0:cNvSpPr txBox="1"/>
          <ns0:nvPr/>
        </ns0:nvSpPr>
        <ns0:spPr>
          <a:xfrm>
            <a:off x="609600" y="304800"/>
            <a:ext cx="10668000" cy="685800"/>
          </a:xfrm>
          <a:prstGeom prst="rect">
            <a:avLst/>
          </a:prstGeom>
          <a:noFill/>
        </ns0:spPr>
        <ns0:txBody>
          <a:bodyPr wrap="square" rtlCol="0">
            <a:spAutoFit/>
          </a:bodyPr>
          <a:lstStyle/>
          <a:p>
            <a:r>
              <a:rPr lang="en-US" sz="2800" b="1" dirty="0"/>
              <a:t>Distribution Capacity Review</a:t>
            </a:r>
          </a:p>
        </ns0:txBody>
      </ns0:sp>
      <ns0:sp>
        <ns0:nvSpPr>
          <ns0:cNvPr id="3" name="Evidence Gaps"/>
          <ns0:cNvSpPr txBox="1"/>
          <ns0:nvPr/>
        </ns0:nvSpPr>
        <ns0:spPr>
          <a:xfrm>
            <a:off x="762000" y="1524000"/>
            <a:ext cx="5181600" cy="1828800"/>
          </a:xfrm>
          <a:prstGeom prst="rect">
            <a:avLst/>
          </a:prstGeom>
          <a:solidFill>
            <a:srgbClr val="E9F5DB"/>
          </a:solidFill>
          <a:ln w="12700">
            <a:solidFill>
              <a:srgbClr val="6B8E23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Constraint</a:t>
            </a:r>
          </a:p>
          <a:p>
            <a:r>
              <a:rPr lang="en-US" sz="1900" dirty="0"/>
              <a:t>Two fulfillment hubs are running above ninety percent utilization during weekly peak windows.</a:t>
            </a:r>
          </a:p>
        </ns0:txBody>
      </ns0:sp>
      <ns0:sp>
        <ns0:nvSpPr>
          <ns0:cNvPr id="4" name="Next Steps"/>
          <ns0:cNvSpPr txBox="1"/>
          <ns0:nvPr/>
        </ns0:nvSpPr>
        <ns0:spPr>
          <a:xfrm>
            <a:off x="6400800" y="1524000"/>
            <a:ext cx="4114800" cy="1828800"/>
          </a:xfrm>
          <a:prstGeom prst="rect">
            <a:avLst/>
          </a:prstGeom>
          <a:solidFill>
            <a:srgbClr val="EEE8FF"/>
          </a:solidFill>
          <a:ln w="12700">
            <a:solidFill>
              <a:srgbClr val="7A68A6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Action</a:t>
            </a:r>
          </a:p>
          <a:p>
            <a:r>
              <a:rPr lang="en-US" sz="1900" dirty="0"/>
              <a:t>Shift overflow assembly to the new Johor line before summer launch demand arrives.</a:t>
            </a:r>
          </a:p>
        </ns0:txBody>
      </ns0:sp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itle"/>
          <ns0:cNvSpPr txBox="1"/>
          <ns0:nvPr/>
        </ns0:nvSpPr>
        <ns0:spPr>
          <a:xfrm>
            <a:off x="609600" y="304800"/>
            <a:ext cx="10668000" cy="685800"/>
          </a:xfrm>
          <a:prstGeom prst="rect">
            <a:avLst/>
          </a:prstGeom>
          <a:noFill/>
        </ns0:spPr>
        <ns0:txBody>
          <a:bodyPr wrap="square" rtlCol="0">
            <a:spAutoFit/>
          </a:bodyPr>
          <a:lstStyle/>
          <a:p>
            <a:r>
              <a:rPr lang="en-US" sz="2800" b="1" dirty="0"/>
              <a:t>Product Launch Readiness</a:t>
            </a:r>
          </a:p>
        </ns0:txBody>
      </ns0:sp>
      <ns0:sp>
        <ns0:nvSpPr>
          <ns0:cNvPr id="3" name="Current Status"/>
          <ns0:cNvSpPr txBox="1"/>
          <ns0:nvPr/>
        </ns0:nvSpPr>
        <ns0:spPr>
          <a:xfrm>
            <a:off x="762000" y="1219200"/>
            <a:ext cx="4953000" cy="1600200"/>
          </a:xfrm>
          <a:prstGeom prst="rect">
            <a:avLst/>
          </a:prstGeom>
          <a:solidFill>
            <a:srgbClr val="EAF3FF"/>
          </a:solidFill>
          <a:ln w="12700">
            <a:solidFill>
              <a:srgbClr val="5B84C4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Milestone Status</a:t>
            </a:r>
          </a:p>
          <a:p>
            <a:r>
              <a:rPr lang="en-US" sz="1900" dirty="0"/>
              <a:t>Security review, localization, and support training have all passed the launch gate.</a:t>
            </a:r>
          </a:p>
        </ns0:txBody>
      </ns0:sp>
      <ns0:sp>
        <ns0:nvSpPr>
          <ns0:cNvPr id="4" name="Policy Coverage"/>
          <ns0:cNvSpPr txBox="1"/>
          <ns0:nvPr/>
        </ns0:nvSpPr>
        <ns0:spPr>
          <a:xfrm>
            <a:off x="5943600" y="1219200"/>
            <a:ext cx="4876800" cy="1600200"/>
          </a:xfrm>
          <a:prstGeom prst="rect">
            <a:avLst/>
          </a:prstGeom>
          <a:solidFill>
            <a:srgbClr val="FDEBD2"/>
          </a:solidFill>
          <a:ln w="12700">
            <a:solidFill>
              <a:srgbClr val="C67C3A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Leadership Ask</a:t>
            </a:r>
          </a:p>
          <a:p>
            <a:r>
              <a:rPr lang="en-US" sz="1900" dirty="0"/>
              <a:t>Approve the final demand buffer for premium bundles before April procurement lock.</a:t>
            </a:r>
          </a:p>
        </ns0:txBody>
      </ns0:sp>
      <ns0:sp>
        <ns0:nvSpPr>
          <ns0:cNvPr id="5" name="Open Issues"/>
          <ns0:cNvSpPr txBox="1"/>
          <ns0:nvPr/>
        </ns0:nvSpPr>
        <ns0:spPr>
          <a:xfrm>
            <a:off x="5943600" y="3200400"/>
            <a:ext cx="4876800" cy="1600200"/>
          </a:xfrm>
          <a:prstGeom prst="rect">
            <a:avLst/>
          </a:prstGeom>
          <a:solidFill>
            <a:srgbClr val="F9E3E3"/>
          </a:solidFill>
          <a:ln w="12700">
            <a:solidFill>
              <a:srgbClr val="B24C4C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Risk Watch</a:t>
            </a:r>
          </a:p>
          <a:p>
            <a:r>
              <a:rPr lang="en-US" sz="1900" dirty="0"/>
              <a:t>Retail signage artwork still depends on one unresolved legal phrase in Germany.</a:t>
            </a:r>
          </a:p>
        </ns0:txBody>
      </ns0:sp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itle"/>
          <ns0:cNvSpPr txBox="1"/>
          <ns0:nvPr/>
        </ns0:nvSpPr>
        <ns0:spPr>
          <a:xfrm>
            <a:off x="609600" y="304800"/>
            <a:ext cx="10668000" cy="685800"/>
          </a:xfrm>
          <a:prstGeom prst="rect">
            <a:avLst/>
          </a:prstGeom>
          <a:noFill/>
        </ns0:spPr>
        <ns0:txBody>
          <a:bodyPr wrap="square" rtlCol="0">
            <a:spAutoFit/>
          </a:bodyPr>
          <a:lstStyle/>
          <a:p>
            <a:r>
              <a:rPr lang="en-US" sz="2800" b="1" dirty="0"/>
              <a:t>Partner Pipeline Quality</a:t>
            </a:r>
          </a:p>
        </ns0:txBody>
      </ns0:sp>
      <ns0:sp>
        <ns0:nvSpPr>
          <ns0:cNvPr id="3" name="Evidence Gaps"/>
          <ns0:cNvSpPr txBox="1"/>
          <ns0:nvPr/>
        </ns0:nvSpPr>
        <ns0:spPr>
          <a:xfrm>
            <a:off x="762000" y="1524000"/>
            <a:ext cx="5181600" cy="1828800"/>
          </a:xfrm>
          <a:prstGeom prst="rect">
            <a:avLst/>
          </a:prstGeom>
          <a:solidFill>
            <a:srgbClr val="E9F5DB"/>
          </a:solidFill>
          <a:ln w="12700">
            <a:solidFill>
              <a:srgbClr val="6B8E23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Coverage</a:t>
            </a:r>
          </a:p>
          <a:p>
            <a:r>
              <a:rPr lang="en-US" sz="1900" dirty="0"/>
              <a:t>Top-tier channel pipeline is up sixteen percent with stronger qualification scoring than last quarter.</a:t>
            </a:r>
          </a:p>
        </ns0:txBody>
      </ns0:sp>
      <ns0:sp>
        <ns0:nvSpPr>
          <ns0:cNvPr id="4" name="Next Steps"/>
          <ns0:cNvSpPr txBox="1"/>
          <ns0:nvPr/>
        </ns0:nvSpPr>
        <ns0:spPr>
          <a:xfrm>
            <a:off x="6400800" y="1524000"/>
            <a:ext cx="4114800" cy="1828800"/>
          </a:xfrm>
          <a:prstGeom prst="rect">
            <a:avLst/>
          </a:prstGeom>
          <a:solidFill>
            <a:srgbClr val="EEE8FF"/>
          </a:solidFill>
          <a:ln w="12700">
            <a:solidFill>
              <a:srgbClr val="7A68A6"/>
            </a:solidFill>
          </a:ln>
        </ns0:spPr>
        <ns0:txBody>
          <a:bodyPr wrap="square" rtlCol="0">
            <a:spAutoFit/>
          </a:bodyPr>
          <a:lstStyle/>
          <a:p>
            <a:r>
              <a:rPr lang="en-US" sz="1900" b="1" dirty="0"/>
              <a:t>Action</a:t>
            </a:r>
          </a:p>
          <a:p>
            <a:r>
              <a:rPr lang="en-US" sz="1900" dirty="0"/>
              <a:t>Reassign two solution architects to the healthcare segment to close the largest committed deals.</a:t>
            </a:r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